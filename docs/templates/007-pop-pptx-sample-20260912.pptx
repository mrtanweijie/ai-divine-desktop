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收入（亿元）</c:v>
                </c:pt>
              </c:strCache>
            </c:strRef>
          </c:tx>
          <c:spPr>
            <a:solidFill>
              <a:srgbClr val="FF5C93"/>
            </a:solidFill>
          </c:spPr>
          <c:cat>
            <c:strRef>
              <c:f>Sheet1!$A$2:$A$7</c:f>
              <c:strCache>
                <c:ptCount val="6"/>
                <c:pt idx="0">
                  <c:v>THE MONSTERS</c:v>
                </c:pt>
                <c:pt idx="1">
                  <c:v>SKULLPANDA</c:v>
                </c:pt>
                <c:pt idx="2">
                  <c:v>CRYBABY</c:v>
                </c:pt>
                <c:pt idx="3">
                  <c:v>MOLLY</c:v>
                </c:pt>
                <c:pt idx="4">
                  <c:v>DIMOO</c:v>
                </c:pt>
                <c:pt idx="5">
                  <c:v>星星人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141.6</c:v>
                </c:pt>
                <c:pt idx="1">
                  <c:v>35.4</c:v>
                </c:pt>
                <c:pt idx="2">
                  <c:v>29.3</c:v>
                </c:pt>
                <c:pt idx="3">
                  <c:v>29.0</c:v>
                </c:pt>
                <c:pt idx="4">
                  <c:v>27.8</c:v>
                </c:pt>
                <c:pt idx="5">
                  <c:v>20.6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>
                <a:solidFill>
                  <a:srgbClr val="74748C"/>
                </a:solidFill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50">
                <a:solidFill>
                  <a:srgbClr val="74748C"/>
                </a:solidFill>
                <a:latin typeface="PingFang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4748C"/>
          </a:solidFill>
          <a:latin typeface="PingFang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FF5C93"/>
              </a:solidFill>
            </c:spPr>
          </c:dPt>
          <c:dPt>
            <c:idx val="1"/>
            <c:spPr>
              <a:solidFill>
                <a:srgbClr val="FFD24D"/>
              </a:solidFill>
            </c:spPr>
          </c:dPt>
          <c:dPt>
            <c:idx val="2"/>
            <c:spPr>
              <a:solidFill>
                <a:srgbClr val="2ED9A8"/>
              </a:solidFill>
            </c:spPr>
          </c:dPt>
          <c:dPt>
            <c:idx val="3"/>
            <c:spPr>
              <a:solidFill>
                <a:srgbClr val="5B7CFA"/>
              </a:solidFill>
            </c:spPr>
          </c:dPt>
          <c:cat>
            <c:strRef>
              <c:f>Sheet1!$A$2:$A$5</c:f>
              <c:strCache>
                <c:ptCount val="4"/>
                <c:pt idx="0">
                  <c:v>毛绒</c:v>
                </c:pt>
                <c:pt idx="1">
                  <c:v>手办/盲盒</c:v>
                </c:pt>
                <c:pt idx="2">
                  <c:v>衍生品及其他</c:v>
                </c:pt>
                <c:pt idx="3">
                  <c:v>MEGA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50.4</c:v>
                </c:pt>
                <c:pt idx="1">
                  <c:v>32.4</c:v>
                </c:pt>
                <c:pt idx="2">
                  <c:v>12.0</c:v>
                </c:pt>
                <c:pt idx="3">
                  <c:v>5.2</c:v>
                </c:pt>
              </c:numCache>
            </c:numRef>
          </c:val>
        </c:ser>
        <c:dLbls>
          <c:txPr>
            <a:bodyPr/>
            <a:lstStyle/>
            <a:p>
              <a:pPr>
                <a:defRPr sz="1050">
                  <a:solidFill>
                    <a:srgbClr val="23233A"/>
                  </a:solidFill>
                  <a:latin typeface="PingFang SC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>
              <a:latin typeface="PingFang S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74748C"/>
          </a:solidFill>
          <a:latin typeface="PingFang SC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-1051560"/>
            <a:ext cx="3017520" cy="3017520"/>
          </a:xfrm>
          <a:prstGeom prst="ellipse">
            <a:avLst/>
          </a:prstGeom>
          <a:solidFill>
            <a:srgbClr val="FF5C9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1051560"/>
            <a:ext cx="2377440" cy="2377440"/>
          </a:xfrm>
          <a:prstGeom prst="ellipse">
            <a:avLst/>
          </a:prstGeom>
          <a:solidFill>
            <a:srgbClr val="FFD24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4434840"/>
            <a:ext cx="2331720" cy="2331720"/>
          </a:xfrm>
          <a:prstGeom prst="ellipse">
            <a:avLst/>
          </a:prstGeom>
          <a:solidFill>
            <a:srgbClr val="2ED9A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234440" y="4892040"/>
            <a:ext cx="1920240" cy="1920240"/>
          </a:xfrm>
          <a:prstGeom prst="ellipse">
            <a:avLst/>
          </a:prstGeom>
          <a:solidFill>
            <a:srgbClr val="5B7CFA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0" y="868680"/>
            <a:ext cx="1325880" cy="1325880"/>
          </a:xfrm>
          <a:prstGeom prst="ellipse">
            <a:avLst/>
          </a:prstGeom>
          <a:solidFill>
            <a:srgbClr val="FFD24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5989320" y="777240"/>
            <a:ext cx="237744" cy="237744"/>
          </a:xfrm>
          <a:prstGeom prst="star4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8549640" y="2331720"/>
            <a:ext cx="274320" cy="274320"/>
          </a:xfrm>
          <a:prstGeom prst="star4">
            <a:avLst/>
          </a:prstGeom>
          <a:solidFill>
            <a:srgbClr val="2E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4-Point Star 9"/>
          <p:cNvSpPr/>
          <p:nvPr/>
        </p:nvSpPr>
        <p:spPr>
          <a:xfrm>
            <a:off x="4480560" y="5833872"/>
            <a:ext cx="201168" cy="201168"/>
          </a:xfrm>
          <a:prstGeom prst="star4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35056" y="4864608"/>
            <a:ext cx="201168" cy="603504"/>
          </a:xfrm>
          <a:prstGeom prst="roundRect">
            <a:avLst>
              <a:gd name="adj" fmla="val 50000"/>
            </a:avLst>
          </a:prstGeom>
          <a:solidFill>
            <a:srgbClr val="FFD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04704" y="5248656"/>
            <a:ext cx="1298448" cy="365760"/>
          </a:xfrm>
          <a:prstGeom prst="roundRect">
            <a:avLst>
              <a:gd name="adj" fmla="val 3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14432" y="5541264"/>
            <a:ext cx="1078992" cy="786384"/>
          </a:xfrm>
          <a:prstGeom prst="roundRect">
            <a:avLst>
              <a:gd name="adj" fmla="val 22000"/>
            </a:avLst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89336" y="570585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0" y="5865876"/>
            <a:ext cx="164592" cy="45720"/>
          </a:xfrm>
          <a:prstGeom prst="roundRect">
            <a:avLst>
              <a:gd name="adj" fmla="val 50000"/>
            </a:avLst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849356" y="5806440"/>
            <a:ext cx="45720" cy="164592"/>
          </a:xfrm>
          <a:prstGeom prst="roundRect">
            <a:avLst>
              <a:gd name="adj" fmla="val 50000"/>
            </a:avLst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1024128"/>
            <a:ext cx="248716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1156716"/>
            <a:ext cx="137160" cy="137160"/>
          </a:xfrm>
          <a:prstGeom prst="ellipse">
            <a:avLst/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109728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 spc="160">
                <a:solidFill>
                  <a:srgbClr val="74748C"/>
                </a:solidFill>
                <a:latin typeface="PingFang SC"/>
                <a:ea typeface="PingFang SC"/>
              </a:rPr>
              <a:t>BRAND · 潮玩商业模式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700784"/>
            <a:ext cx="6858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600" b="1" i="0">
                <a:solidFill>
                  <a:srgbClr val="23233A"/>
                </a:solidFill>
                <a:latin typeface="PingFang SC"/>
                <a:ea typeface="PingFang SC"/>
              </a:rPr>
              <a:t>泡泡玛特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88950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200" b="1" i="0">
                <a:solidFill>
                  <a:srgbClr val="FF5C93"/>
                </a:solidFill>
                <a:latin typeface="PingFang SC"/>
                <a:ea typeface="PingFang SC"/>
              </a:rPr>
              <a:t>潮玩帝国的诞生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12463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50" b="0" i="0">
                <a:solidFill>
                  <a:srgbClr val="74748C"/>
                </a:solidFill>
                <a:latin typeface="PingFang SC"/>
                <a:ea typeface="PingFang SC"/>
              </a:rPr>
              <a:t>从一家潮流杂货店，到全球化的 IP 运营公司 —— 关于盲盒、IP 与情绪消费。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663440"/>
            <a:ext cx="950976" cy="457200"/>
          </a:xfrm>
          <a:prstGeom prst="roundRect">
            <a:avLst>
              <a:gd name="adj" fmla="val 50000"/>
            </a:avLst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盲盒经济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4663440"/>
            <a:ext cx="1431036" cy="457200"/>
          </a:xfrm>
          <a:prstGeom prst="roundRect">
            <a:avLst>
              <a:gd name="adj" fmla="val 50000"/>
            </a:avLst>
          </a:prstGeom>
          <a:solidFill>
            <a:srgbClr val="FFD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IP 运营飞轮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3300" y="4663440"/>
            <a:ext cx="1110996" cy="457200"/>
          </a:xfrm>
          <a:prstGeom prst="roundRect">
            <a:avLst>
              <a:gd name="adj" fmla="val 50000"/>
            </a:avLst>
          </a:prstGeom>
          <a:solidFill>
            <a:srgbClr val="2E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全球化扩张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4663440"/>
            <a:ext cx="950976" cy="457200"/>
          </a:xfrm>
          <a:prstGeom prst="roundRect">
            <a:avLst>
              <a:gd name="adj" fmla="val 5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情绪价值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607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A3A3B6"/>
                </a:solidFill>
                <a:latin typeface="PingFang SC"/>
                <a:ea typeface="PingFang SC"/>
              </a:rPr>
              <a:t>AI Divine · 14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3233A"/>
                </a:solidFill>
                <a:latin typeface="PingFang SC"/>
                <a:ea typeface="PingFang SC"/>
              </a:rPr>
              <a:t>目录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417320" cy="320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 spc="60">
                <a:solidFill>
                  <a:srgbClr val="BCB7BB"/>
                </a:solidFill>
                <a:latin typeface="PingFang SC"/>
                <a:ea typeface="PingFang SC"/>
              </a:rPr>
              <a:t>2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345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2323" y="6483096"/>
            <a:ext cx="219456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0207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2094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3981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5868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7755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643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530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417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191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079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966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659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5C93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1965960"/>
            <a:ext cx="45413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33A"/>
                </a:solidFill>
                <a:latin typeface="PingFang SC"/>
                <a:ea typeface="PingFang SC"/>
              </a:rPr>
              <a:t>商业模式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4287" y="202082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4748C"/>
                </a:solidFill>
                <a:latin typeface="PingFang SC"/>
                <a:ea typeface="PingFang SC"/>
              </a:rPr>
              <a:t>P03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679191"/>
            <a:ext cx="5227167" cy="14630"/>
          </a:xfrm>
          <a:prstGeom prst="rect">
            <a:avLst/>
          </a:prstGeom>
          <a:solidFill>
            <a:srgbClr val="F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4447" y="19659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5C93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247" y="1965960"/>
            <a:ext cx="45413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33A"/>
                </a:solidFill>
                <a:latin typeface="PingFang SC"/>
                <a:ea typeface="PingFang SC"/>
              </a:rPr>
              <a:t>IP 与品类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202082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4748C"/>
                </a:solidFill>
                <a:latin typeface="PingFang SC"/>
                <a:ea typeface="PingFang SC"/>
              </a:rPr>
              <a:t>P06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4447" y="2679191"/>
            <a:ext cx="5227167" cy="14630"/>
          </a:xfrm>
          <a:prstGeom prst="rect">
            <a:avLst/>
          </a:prstGeom>
          <a:solidFill>
            <a:srgbClr val="F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26440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5C93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264408"/>
            <a:ext cx="454136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3233A"/>
                </a:solidFill>
                <a:latin typeface="PingFang SC"/>
                <a:ea typeface="PingFang SC"/>
              </a:rPr>
              <a:t>全球化与财务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4287" y="33192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4748C"/>
                </a:solidFill>
                <a:latin typeface="PingFang SC"/>
                <a:ea typeface="PingFang SC"/>
              </a:rPr>
              <a:t>P09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977639"/>
            <a:ext cx="5227167" cy="14630"/>
          </a:xfrm>
          <a:prstGeom prst="rect">
            <a:avLst/>
          </a:prstGeom>
          <a:solidFill>
            <a:srgbClr val="F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 i="0">
                <a:solidFill>
                  <a:srgbClr val="DAD5D5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FF5C93"/>
                </a:solidFill>
                <a:latin typeface="PingFang SC"/>
                <a:ea typeface="PingFang SC"/>
              </a:rPr>
              <a:t>PART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93008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23233A"/>
                </a:solidFill>
                <a:latin typeface="PingFang SC"/>
                <a:ea typeface="PingFang SC"/>
              </a:rPr>
              <a:t>商业模式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3233A"/>
                </a:solidFill>
                <a:latin typeface="PingFang SC"/>
                <a:ea typeface="PingFang SC"/>
              </a:rPr>
              <a:t>盲盒经济学：把「惊喜」做成可复制的机制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417320" cy="320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 spc="60">
                <a:solidFill>
                  <a:srgbClr val="BCB7BB"/>
                </a:solidFill>
                <a:latin typeface="PingFang SC"/>
                <a:ea typeface="PingFang SC"/>
              </a:rPr>
              <a:t>4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345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232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119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0067" y="6483096"/>
            <a:ext cx="219456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3981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5868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7755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643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530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417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191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079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966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162556"/>
            <a:ext cx="6583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F5C93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19" y="2144268"/>
            <a:ext cx="10134295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23233A"/>
                </a:solidFill>
                <a:latin typeface="PingFang SC"/>
                <a:ea typeface="PingFang SC"/>
              </a:rPr>
              <a:t>IP 形象开发</a:t>
            </a:r>
            <a:r>
              <a:rPr sz="1550" b="0" i="0">
                <a:solidFill>
                  <a:srgbClr val="74748C"/>
                </a:solidFill>
                <a:latin typeface="PingFang SC"/>
                <a:ea typeface="PingFang SC"/>
              </a:rPr>
              <a:t>　艺术家联名或内部孵化，先有形象再有商品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19" y="2907792"/>
            <a:ext cx="10134295" cy="12801"/>
          </a:xfrm>
          <a:prstGeom prst="rect">
            <a:avLst/>
          </a:prstGeom>
          <a:solidFill>
            <a:srgbClr val="F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122676"/>
            <a:ext cx="6583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F5C93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3104388"/>
            <a:ext cx="10134295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23233A"/>
                </a:solidFill>
                <a:latin typeface="PingFang SC"/>
                <a:ea typeface="PingFang SC"/>
              </a:rPr>
              <a:t>系列化上架</a:t>
            </a:r>
            <a:r>
              <a:rPr sz="1550" b="0" i="0">
                <a:solidFill>
                  <a:srgbClr val="74748C"/>
                </a:solidFill>
                <a:latin typeface="PingFang SC"/>
                <a:ea typeface="PingFang SC"/>
              </a:rPr>
              <a:t>　一个系列 8-12 款，按「套」设定收藏目标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19" y="3867912"/>
            <a:ext cx="10134295" cy="12801"/>
          </a:xfrm>
          <a:prstGeom prst="rect">
            <a:avLst/>
          </a:prstGeom>
          <a:solidFill>
            <a:srgbClr val="F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82796"/>
            <a:ext cx="6583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F5C93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19" y="4064508"/>
            <a:ext cx="10134295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23233A"/>
                </a:solidFill>
                <a:latin typeface="PingFang SC"/>
                <a:ea typeface="PingFang SC"/>
              </a:rPr>
              <a:t>概率分层</a:t>
            </a:r>
            <a:r>
              <a:rPr sz="1550" b="0" i="0">
                <a:solidFill>
                  <a:srgbClr val="74748C"/>
                </a:solidFill>
                <a:latin typeface="PingFang SC"/>
                <a:ea typeface="PingFang SC"/>
              </a:rPr>
              <a:t>　常规款 / 隐藏款 / 限定款，用低概率制造稀缺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17319" y="4828032"/>
            <a:ext cx="10134295" cy="12801"/>
          </a:xfrm>
          <a:prstGeom prst="rect">
            <a:avLst/>
          </a:prstGeom>
          <a:solidFill>
            <a:srgbClr val="F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42916"/>
            <a:ext cx="6583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F5C93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5024628"/>
            <a:ext cx="10134295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23233A"/>
                </a:solidFill>
                <a:latin typeface="PingFang SC"/>
                <a:ea typeface="PingFang SC"/>
              </a:rPr>
              <a:t>社群与二级市场</a:t>
            </a:r>
            <a:r>
              <a:rPr sz="1550" b="0" i="0">
                <a:solidFill>
                  <a:srgbClr val="74748C"/>
                </a:solidFill>
                <a:latin typeface="PingFang SC"/>
                <a:ea typeface="PingFang SC"/>
              </a:rPr>
              <a:t>　交换、晒单、保值预期形成自发传播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3233A"/>
                </a:solidFill>
                <a:latin typeface="PingFang SC"/>
                <a:ea typeface="PingFang SC"/>
              </a:rPr>
              <a:t>公司速览：一家从中国走向全球的潮玩公司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417320" cy="320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 spc="60">
                <a:solidFill>
                  <a:srgbClr val="BCB7BB"/>
                </a:solidFill>
                <a:latin typeface="PingFang SC"/>
                <a:ea typeface="PingFang SC"/>
              </a:rPr>
              <a:t>5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345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232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119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006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88939" y="6483096"/>
            <a:ext cx="219456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5868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7755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643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530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417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191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079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966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1828800"/>
            <a:ext cx="5318607" cy="19431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7" y="2011680"/>
            <a:ext cx="128016" cy="128016"/>
          </a:xfrm>
          <a:prstGeom prst="ellipse">
            <a:avLst/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2267712"/>
            <a:ext cx="49162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3233A"/>
                </a:solidFill>
                <a:latin typeface="PingFang SC"/>
                <a:ea typeface="PingFang SC"/>
              </a:rPr>
              <a:t>2010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2761488"/>
            <a:ext cx="4916271" cy="845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74748C"/>
                </a:solidFill>
                <a:latin typeface="PingFang SC"/>
                <a:ea typeface="PingFang SC"/>
              </a:rPr>
              <a:t>成立年份|起步于潮流杂货零售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1828800"/>
            <a:ext cx="5318607" cy="19431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2011680"/>
            <a:ext cx="128016" cy="128016"/>
          </a:xfrm>
          <a:prstGeom prst="ellipse">
            <a:avLst/>
          </a:prstGeom>
          <a:solidFill>
            <a:srgbClr val="FFD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4175" y="2267712"/>
            <a:ext cx="49162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3233A"/>
                </a:solidFill>
                <a:latin typeface="PingFang SC"/>
                <a:ea typeface="PingFang SC"/>
              </a:rPr>
              <a:t>潮玩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4175" y="2761488"/>
            <a:ext cx="4916271" cy="845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74748C"/>
                </a:solidFill>
                <a:latin typeface="PingFang SC"/>
                <a:ea typeface="PingFang SC"/>
              </a:rPr>
              <a:t>核心品类|毛绒与手办双主线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046220"/>
            <a:ext cx="5318607" cy="19431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1247" y="4229100"/>
            <a:ext cx="128016" cy="128016"/>
          </a:xfrm>
          <a:prstGeom prst="ellipse">
            <a:avLst/>
          </a:prstGeom>
          <a:solidFill>
            <a:srgbClr val="2E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4485131"/>
            <a:ext cx="49162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3233A"/>
                </a:solidFill>
                <a:latin typeface="PingFang SC"/>
                <a:ea typeface="PingFang SC"/>
              </a:rPr>
              <a:t>港股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978908"/>
            <a:ext cx="4916271" cy="845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74748C"/>
                </a:solidFill>
                <a:latin typeface="PingFang SC"/>
                <a:ea typeface="PingFang SC"/>
              </a:rPr>
              <a:t>资本市场|2020 年于中国香港上市（09992.HK）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3007" y="4046220"/>
            <a:ext cx="5318607" cy="19431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34175" y="4229100"/>
            <a:ext cx="128016" cy="128016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4175" y="4485131"/>
            <a:ext cx="49162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3233A"/>
                </a:solidFill>
                <a:latin typeface="PingFang SC"/>
                <a:ea typeface="PingFang SC"/>
              </a:rPr>
              <a:t>全球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4175" y="4978908"/>
            <a:ext cx="4916271" cy="845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74748C"/>
                </a:solidFill>
                <a:latin typeface="PingFang SC"/>
                <a:ea typeface="PingFang SC"/>
              </a:rPr>
              <a:t>业务版图|20+ 国家 · 630 家门店 · 全直营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 i="0">
                <a:solidFill>
                  <a:srgbClr val="DAD5D5"/>
                </a:solidFill>
                <a:latin typeface="PingFang SC"/>
                <a:ea typeface="PingFang SC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FF5C93"/>
                </a:solidFill>
                <a:latin typeface="PingFang SC"/>
                <a:ea typeface="PingFang SC"/>
              </a:rPr>
              <a:t>PART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93008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23233A"/>
                </a:solidFill>
                <a:latin typeface="PingFang SC"/>
                <a:ea typeface="PingFang SC"/>
              </a:rPr>
              <a:t>IP 与品类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3233A"/>
                </a:solidFill>
                <a:latin typeface="PingFang SC"/>
                <a:ea typeface="PingFang SC"/>
              </a:rPr>
              <a:t>IP 矩阵：「一超多强」的宇宙结构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417320" cy="320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 spc="60">
                <a:solidFill>
                  <a:srgbClr val="BCB7BB"/>
                </a:solidFill>
                <a:latin typeface="PingFang SC"/>
                <a:ea typeface="PingFang SC"/>
              </a:rPr>
              <a:t>7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345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232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119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006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8893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781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26683" y="6483096"/>
            <a:ext cx="219456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643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530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417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191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079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966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1051560" y="1828800"/>
          <a:ext cx="10088575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3233A"/>
                </a:solidFill>
                <a:latin typeface="PingFang SC"/>
                <a:ea typeface="PingFang SC"/>
              </a:rPr>
              <a:t>品类迁移：毛绒第一次成为第一大品类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417320" cy="320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 spc="60">
                <a:solidFill>
                  <a:srgbClr val="BCB7BB"/>
                </a:solidFill>
                <a:latin typeface="PingFang SC"/>
                <a:ea typeface="PingFang SC"/>
              </a:rPr>
              <a:t>8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345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232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119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006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8893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781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2668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5555" y="6483096"/>
            <a:ext cx="219456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530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417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191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079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966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1051560" y="1828800"/>
          <a:ext cx="10088575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 i="0">
                <a:solidFill>
                  <a:srgbClr val="DAD5D5"/>
                </a:solidFill>
                <a:latin typeface="PingFang SC"/>
                <a:ea typeface="PingFang SC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 spc="120">
                <a:solidFill>
                  <a:srgbClr val="FF5C93"/>
                </a:solidFill>
                <a:latin typeface="PingFang SC"/>
                <a:ea typeface="PingFang SC"/>
              </a:rPr>
              <a:t>PART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93008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23233A"/>
                </a:solidFill>
                <a:latin typeface="PingFang SC"/>
                <a:ea typeface="PingFang SC"/>
              </a:rPr>
              <a:t>全球化与财务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3233A"/>
                </a:solidFill>
                <a:latin typeface="PingFang SC"/>
                <a:ea typeface="PingFang SC"/>
              </a:rPr>
              <a:t>2025 财务速览：规模与盈利双创新高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417320" cy="320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 spc="60">
                <a:solidFill>
                  <a:srgbClr val="BCB7BB"/>
                </a:solidFill>
                <a:latin typeface="PingFang SC"/>
                <a:ea typeface="PingFang SC"/>
              </a:rPr>
              <a:t>10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345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232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119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006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8893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781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2668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555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442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3299" y="6483096"/>
            <a:ext cx="219456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191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079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966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2377440"/>
            <a:ext cx="2522143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743200"/>
            <a:ext cx="206494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FF5C93"/>
                </a:solidFill>
                <a:latin typeface="PingFang SC"/>
                <a:ea typeface="PingFang SC"/>
              </a:rPr>
              <a:t>371.2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639312"/>
            <a:ext cx="2064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营业收入（亿元）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078224"/>
            <a:ext cx="20649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74748C"/>
                </a:solidFill>
                <a:latin typeface="PingFang SC"/>
                <a:ea typeface="PingFang SC"/>
              </a:rPr>
              <a:t>同比 +184.7%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36543" y="2377440"/>
            <a:ext cx="2522143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5143" y="2743200"/>
            <a:ext cx="206494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FF5C93"/>
                </a:solidFill>
                <a:latin typeface="PingFang SC"/>
                <a:ea typeface="PingFang SC"/>
              </a:rPr>
              <a:t>127.8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5143" y="3639312"/>
            <a:ext cx="2064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归母净利润（亿元）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5143" y="4078224"/>
            <a:ext cx="20649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74748C"/>
                </a:solidFill>
                <a:latin typeface="PingFang SC"/>
                <a:ea typeface="PingFang SC"/>
              </a:rPr>
              <a:t>同比 +308.8%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2377440"/>
            <a:ext cx="2522143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1607" y="2743200"/>
            <a:ext cx="206494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FF5C93"/>
                </a:solidFill>
                <a:latin typeface="PingFang SC"/>
                <a:ea typeface="PingFang SC"/>
              </a:rPr>
              <a:t>72.1%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607" y="3639312"/>
            <a:ext cx="2064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销售毛利率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1607" y="4078224"/>
            <a:ext cx="20649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74748C"/>
                </a:solidFill>
                <a:latin typeface="PingFang SC"/>
                <a:ea typeface="PingFang SC"/>
              </a:rPr>
              <a:t>较上年 +5.3pct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9471" y="2377440"/>
            <a:ext cx="2522143" cy="2377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8071" y="2743200"/>
            <a:ext cx="206494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FF5C93"/>
                </a:solidFill>
                <a:latin typeface="PingFang SC"/>
                <a:ea typeface="PingFang SC"/>
              </a:rPr>
              <a:t>77.5%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8071" y="3639312"/>
            <a:ext cx="206494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净资产收益率 ROE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8071" y="4078224"/>
            <a:ext cx="20649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74748C"/>
                </a:solidFill>
                <a:latin typeface="PingFang SC"/>
                <a:ea typeface="PingFang SC"/>
              </a:rPr>
              <a:t>资产负债率 29.4%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3233A"/>
                </a:solidFill>
                <a:latin typeface="PingFang SC"/>
                <a:ea typeface="PingFang SC"/>
              </a:rPr>
              <a:t>中国市场 vs 海外市场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417320" cy="320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 spc="60">
                <a:solidFill>
                  <a:srgbClr val="BCB7BB"/>
                </a:solidFill>
                <a:latin typeface="PingFang SC"/>
                <a:ea typeface="PingFang SC"/>
              </a:rPr>
              <a:t>11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345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232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119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006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8893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781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2668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555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442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329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2171" y="6483096"/>
            <a:ext cx="219456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191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079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966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1828800"/>
            <a:ext cx="4998567" cy="40233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210312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中国内地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697480"/>
            <a:ext cx="4449927" cy="2834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•  </a:t>
            </a:r>
            <a:r>
              <a:rPr sz="1350" b="0" i="0">
                <a:solidFill>
                  <a:srgbClr val="23233A"/>
                </a:solidFill>
                <a:latin typeface="PingFang SC"/>
                <a:ea typeface="PingFang SC"/>
              </a:rPr>
              <a:t>占总营收 </a:t>
            </a: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56.2%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•  </a:t>
            </a:r>
            <a:r>
              <a:rPr sz="1350" b="0" i="0">
                <a:solidFill>
                  <a:srgbClr val="23233A"/>
                </a:solidFill>
                <a:latin typeface="PingFang SC"/>
                <a:ea typeface="PingFang SC"/>
              </a:rPr>
              <a:t>同比 +</a:t>
            </a: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134.6%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•  </a:t>
            </a: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445 </a:t>
            </a:r>
            <a:r>
              <a:rPr sz="1350" b="0" i="0">
                <a:solidFill>
                  <a:srgbClr val="23233A"/>
                </a:solidFill>
                <a:latin typeface="PingFang SC"/>
                <a:ea typeface="PingFang SC"/>
              </a:rPr>
              <a:t>家门店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3047" y="1828800"/>
            <a:ext cx="4998567" cy="402335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27367" y="210312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653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海外合计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7367" y="2697480"/>
            <a:ext cx="4449927" cy="2834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•  </a:t>
            </a:r>
            <a:r>
              <a:rPr sz="1350" b="0" i="0">
                <a:solidFill>
                  <a:srgbClr val="23233A"/>
                </a:solidFill>
                <a:latin typeface="PingFang SC"/>
                <a:ea typeface="PingFang SC"/>
              </a:rPr>
              <a:t>占总营收 </a:t>
            </a: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43.8%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•  </a:t>
            </a:r>
            <a:r>
              <a:rPr sz="1350" b="0" i="0">
                <a:solidFill>
                  <a:srgbClr val="23233A"/>
                </a:solidFill>
                <a:latin typeface="PingFang SC"/>
                <a:ea typeface="PingFang SC"/>
              </a:rPr>
              <a:t>同比 +</a:t>
            </a: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291.9%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•  </a:t>
            </a:r>
            <a:r>
              <a:rPr sz="1350" b="0" i="0">
                <a:solidFill>
                  <a:srgbClr val="23233A"/>
                </a:solidFill>
                <a:latin typeface="PingFang SC"/>
                <a:ea typeface="PingFang SC"/>
              </a:rPr>
              <a:t>美洲 +</a:t>
            </a:r>
            <a:r>
              <a:rPr sz="1350" b="1" i="0">
                <a:solidFill>
                  <a:srgbClr val="FF5C93"/>
                </a:solidFill>
                <a:latin typeface="PingFang SC"/>
                <a:ea typeface="PingFang SC"/>
              </a:rPr>
              <a:t>748.4%</a:t>
            </a:r>
          </a:p>
        </p:txBody>
      </p:sp>
      <p:sp>
        <p:nvSpPr>
          <p:cNvPr id="31" name="Oval 30"/>
          <p:cNvSpPr/>
          <p:nvPr/>
        </p:nvSpPr>
        <p:spPr>
          <a:xfrm>
            <a:off x="5767120" y="3511295"/>
            <a:ext cx="658368" cy="658368"/>
          </a:xfrm>
          <a:prstGeom prst="ellipse">
            <a:avLst/>
          </a:prstGeom>
          <a:solidFill>
            <a:srgbClr val="23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VS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-1143000"/>
            <a:ext cx="2514600" cy="2514600"/>
          </a:xfrm>
          <a:prstGeom prst="ellipse">
            <a:avLst/>
          </a:prstGeom>
          <a:solidFill>
            <a:srgbClr val="FF5C93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914400"/>
            <a:ext cx="1965960" cy="1965960"/>
          </a:xfrm>
          <a:prstGeom prst="ellipse">
            <a:avLst/>
          </a:prstGeom>
          <a:solidFill>
            <a:srgbClr val="FFD24D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977639"/>
            <a:ext cx="2240280" cy="2240280"/>
          </a:xfrm>
          <a:prstGeom prst="ellipse">
            <a:avLst/>
          </a:prstGeom>
          <a:solidFill>
            <a:srgbClr val="2ED9A8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60120" y="4846320"/>
            <a:ext cx="1783080" cy="1783080"/>
          </a:xfrm>
          <a:prstGeom prst="ellipse">
            <a:avLst/>
          </a:prstGeom>
          <a:solidFill>
            <a:srgbClr val="5B7CF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3233A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23233A"/>
                </a:solidFill>
                <a:latin typeface="PingFang SC"/>
                <a:ea typeface="PingFang SC"/>
              </a:rPr>
              <a:t>增长背后的三个结构性考题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417320" cy="320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 spc="60">
                <a:solidFill>
                  <a:srgbClr val="BCB7BB"/>
                </a:solidFill>
                <a:latin typeface="PingFang SC"/>
                <a:ea typeface="PingFang SC"/>
              </a:rPr>
              <a:t>12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345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232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5119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006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8893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0781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2668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5555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4427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3299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217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21043" y="6483096"/>
            <a:ext cx="219456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24D"/>
              </a:gs>
              <a:gs pos="50000">
                <a:srgbClr val="FF5C93"/>
              </a:gs>
              <a:gs pos="100000">
                <a:srgbClr val="2ED9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90791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9663" y="64830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D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235707"/>
            <a:ext cx="6583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F5C93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19" y="2217420"/>
            <a:ext cx="1013429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23233A"/>
                </a:solidFill>
                <a:latin typeface="PingFang SC"/>
                <a:ea typeface="PingFang SC"/>
              </a:rPr>
              <a:t>单点依赖</a:t>
            </a:r>
            <a:r>
              <a:rPr sz="1550" b="0" i="0">
                <a:solidFill>
                  <a:srgbClr val="74748C"/>
                </a:solidFill>
                <a:latin typeface="PingFang SC"/>
                <a:ea typeface="PingFang SC"/>
              </a:rPr>
              <a:t>　THE MONSTERS 占营收 38.1%，MOLLY 曾占自有品牌 89.4% 后回落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19" y="3227832"/>
            <a:ext cx="10134295" cy="12801"/>
          </a:xfrm>
          <a:prstGeom prst="rect">
            <a:avLst/>
          </a:prstGeom>
          <a:solidFill>
            <a:srgbClr val="F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15868"/>
            <a:ext cx="6583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F5C93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3497580"/>
            <a:ext cx="1013429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23233A"/>
                </a:solidFill>
                <a:latin typeface="PingFang SC"/>
                <a:ea typeface="PingFang SC"/>
              </a:rPr>
              <a:t>IP 断层</a:t>
            </a:r>
            <a:r>
              <a:rPr sz="1550" b="0" i="0">
                <a:solidFill>
                  <a:srgbClr val="74748C"/>
                </a:solidFill>
                <a:latin typeface="PingFang SC"/>
                <a:ea typeface="PingFang SC"/>
              </a:rPr>
              <a:t>　17 个 IP 过亿，但头部与第二名相差约 106 亿元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19" y="4507992"/>
            <a:ext cx="10134295" cy="12801"/>
          </a:xfrm>
          <a:prstGeom prst="rect">
            <a:avLst/>
          </a:prstGeom>
          <a:solidFill>
            <a:srgbClr val="FF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96028"/>
            <a:ext cx="6583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 i="0">
                <a:solidFill>
                  <a:srgbClr val="FF5C93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19" y="4777740"/>
            <a:ext cx="1013429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0">
                <a:solidFill>
                  <a:srgbClr val="23233A"/>
                </a:solidFill>
                <a:latin typeface="PingFang SC"/>
                <a:ea typeface="PingFang SC"/>
              </a:rPr>
              <a:t>溢价退潮</a:t>
            </a:r>
            <a:r>
              <a:rPr sz="1550" b="0" i="0">
                <a:solidFill>
                  <a:srgbClr val="74748C"/>
                </a:solidFill>
                <a:latin typeface="PingFang SC"/>
                <a:ea typeface="PingFang SC"/>
              </a:rPr>
              <a:t>　2026 年 6 月新品上线即破发，部分常规款二手价跌约 25%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800" b="1" i="0">
                <a:solidFill>
                  <a:srgbClr val="FEB1C7"/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331720"/>
            <a:ext cx="9326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2400" b="1" i="0">
                <a:solidFill>
                  <a:srgbClr val="23233A"/>
                </a:solidFill>
                <a:latin typeface="PingFang SC"/>
                <a:ea typeface="PingFang SC"/>
              </a:rPr>
              <a:t>潮玩生意的本质，是把「惊喜」做成可持续的情绪供给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800600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74748C"/>
                </a:solidFill>
                <a:latin typeface="PingFang SC"/>
                <a:ea typeface="PingFang SC"/>
              </a:rPr>
              <a:t>—— 数据来源：泡泡玛特 2025 年度业绩公告（截至 2025-12-31）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-1051560"/>
            <a:ext cx="3017520" cy="3017520"/>
          </a:xfrm>
          <a:prstGeom prst="ellipse">
            <a:avLst/>
          </a:prstGeom>
          <a:solidFill>
            <a:srgbClr val="FF5C9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1051560"/>
            <a:ext cx="2377440" cy="2377440"/>
          </a:xfrm>
          <a:prstGeom prst="ellipse">
            <a:avLst/>
          </a:prstGeom>
          <a:solidFill>
            <a:srgbClr val="FFD24D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4434840"/>
            <a:ext cx="2331720" cy="2331720"/>
          </a:xfrm>
          <a:prstGeom prst="ellipse">
            <a:avLst/>
          </a:prstGeom>
          <a:solidFill>
            <a:srgbClr val="2ED9A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234440" y="4892040"/>
            <a:ext cx="1920240" cy="1920240"/>
          </a:xfrm>
          <a:prstGeom prst="ellipse">
            <a:avLst/>
          </a:prstGeom>
          <a:solidFill>
            <a:srgbClr val="5B7CFA">
              <a:alpha val="9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0" y="868680"/>
            <a:ext cx="1325880" cy="1325880"/>
          </a:xfrm>
          <a:prstGeom prst="ellipse">
            <a:avLst/>
          </a:prstGeom>
          <a:solidFill>
            <a:srgbClr val="FFD24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5989320" y="777240"/>
            <a:ext cx="237744" cy="237744"/>
          </a:xfrm>
          <a:prstGeom prst="star4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8549640" y="2331720"/>
            <a:ext cx="274320" cy="274320"/>
          </a:xfrm>
          <a:prstGeom prst="star4">
            <a:avLst/>
          </a:prstGeom>
          <a:solidFill>
            <a:srgbClr val="2E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4-Point Star 9"/>
          <p:cNvSpPr/>
          <p:nvPr/>
        </p:nvSpPr>
        <p:spPr>
          <a:xfrm>
            <a:off x="4480560" y="5833872"/>
            <a:ext cx="201168" cy="201168"/>
          </a:xfrm>
          <a:prstGeom prst="star4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35056" y="4864608"/>
            <a:ext cx="201168" cy="603504"/>
          </a:xfrm>
          <a:prstGeom prst="roundRect">
            <a:avLst>
              <a:gd name="adj" fmla="val 50000"/>
            </a:avLst>
          </a:prstGeom>
          <a:solidFill>
            <a:srgbClr val="FFD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04704" y="5248656"/>
            <a:ext cx="1298448" cy="365760"/>
          </a:xfrm>
          <a:prstGeom prst="roundRect">
            <a:avLst>
              <a:gd name="adj" fmla="val 3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14432" y="5541264"/>
            <a:ext cx="1078992" cy="786384"/>
          </a:xfrm>
          <a:prstGeom prst="roundRect">
            <a:avLst>
              <a:gd name="adj" fmla="val 22000"/>
            </a:avLst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89336" y="570585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0" y="5865876"/>
            <a:ext cx="164592" cy="45720"/>
          </a:xfrm>
          <a:prstGeom prst="roundRect">
            <a:avLst>
              <a:gd name="adj" fmla="val 50000"/>
            </a:avLst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849356" y="5806440"/>
            <a:ext cx="45720" cy="164592"/>
          </a:xfrm>
          <a:prstGeom prst="roundRect">
            <a:avLst>
              <a:gd name="adj" fmla="val 50000"/>
            </a:avLst>
          </a:prstGeom>
          <a:solidFill>
            <a:srgbClr val="FF5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468880"/>
            <a:ext cx="9235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23233A"/>
                </a:solidFill>
                <a:latin typeface="PingFang SC"/>
                <a:ea typeface="PingFang SC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